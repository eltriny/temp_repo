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프로세스 흐름도 - 전체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단일 비디오 분석 실행 흐름 (VideoAnalyzerApp.run)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1417320" cy="5029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097280"/>
            <a:ext cx="14173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CLI 입력 파싱
(argparse)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097280"/>
            <a:ext cx="14173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Config 초기화
(YAML/ENV)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097280"/>
            <a:ext cx="14173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컴포넌트 초기화
(OCR/DB/Processor)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097280"/>
            <a:ext cx="14173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비디오 메타데이터
로드</a:t>
            </a:r>
          </a:p>
        </p:txBody>
      </p:sp>
      <p:sp>
        <p:nvSpPr>
          <p:cNvPr id="10" name="Magnetic Disk 9"/>
          <p:cNvSpPr/>
          <p:nvPr/>
        </p:nvSpPr>
        <p:spPr>
          <a:xfrm>
            <a:off x="8046720" y="1097280"/>
            <a:ext cx="1417320" cy="502920"/>
          </a:xfrm>
          <a:prstGeom prst="flowChartMagneticDisk">
            <a:avLst/>
          </a:prstGeom>
          <a:solidFill>
            <a:srgbClr val="5D6D7E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DB 세션 생성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1640" y="1348740"/>
            <a:ext cx="13716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46120" y="1348740"/>
            <a:ext cx="13716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00600" y="1348740"/>
            <a:ext cx="13716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55080" y="1348740"/>
            <a:ext cx="13716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9560" y="1348740"/>
            <a:ext cx="13716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2286000" y="2194560"/>
            <a:ext cx="1463040" cy="822960"/>
          </a:xfrm>
          <a:prstGeom prst="diamond">
            <a:avLst/>
          </a:prstGeom>
          <a:solidFill>
            <a:srgbClr val="E67E22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auto-detect
모드?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017520" y="1600200"/>
            <a:ext cx="5737860" cy="59436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92240" y="2331720"/>
            <a:ext cx="1417320" cy="502920"/>
          </a:xfrm>
          <a:prstGeom prst="rect">
            <a:avLst/>
          </a:prstGeom>
          <a:solidFill>
            <a:srgbClr val="16A085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첫 프레임
자동 ROI 탐지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331720"/>
            <a:ext cx="14173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ROI 템플릿 로드
(DB에서)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749040" y="2583180"/>
            <a:ext cx="2743200" cy="2286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94760" y="21488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7AE60"/>
                </a:solidFill>
                <a:latin typeface="Malgun Gothic"/>
              </a:rPr>
              <a:t>Yes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1600200" y="2583180"/>
            <a:ext cx="685800" cy="2286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45920" y="21488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74C3C"/>
                </a:solidFill>
                <a:latin typeface="Malgun Gothic"/>
              </a:rPr>
              <a:t>No</a:t>
            </a:r>
          </a:p>
        </p:txBody>
      </p:sp>
      <p:sp>
        <p:nvSpPr>
          <p:cNvPr id="24" name="Magnetic Disk 23"/>
          <p:cNvSpPr/>
          <p:nvPr/>
        </p:nvSpPr>
        <p:spPr>
          <a:xfrm>
            <a:off x="3840480" y="3291840"/>
            <a:ext cx="1417320" cy="502920"/>
          </a:xfrm>
          <a:prstGeom prst="flowChartMagneticDisk">
            <a:avLst/>
          </a:prstGeom>
          <a:solidFill>
            <a:srgbClr val="5D6D7E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ROI 정의
DB 저장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257800" y="2834640"/>
            <a:ext cx="1943100" cy="54864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1540" y="2834640"/>
            <a:ext cx="2948940" cy="54864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92240" y="3291840"/>
            <a:ext cx="2286000" cy="640080"/>
          </a:xfrm>
          <a:prstGeom prst="rect">
            <a:avLst/>
          </a:prstGeom>
          <a:solidFill>
            <a:srgbClr val="1A5C97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프레임 분석 루프
(ParallelProcessor + ChangeDetection)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57800" y="3543300"/>
            <a:ext cx="1234440" cy="6858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92240" y="3977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D6D7E"/>
                </a:solidFill>
                <a:latin typeface="Malgun Gothic"/>
              </a:rPr>
              <a:t>* 상세 흐름은 다음 슬라이드 참조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3291840"/>
            <a:ext cx="14173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세션 아카이브
(is_active=0)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778240" y="3543300"/>
            <a:ext cx="1097280" cy="6858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875520" y="4169664"/>
            <a:ext cx="141732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결과 요약 출력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584180" y="3794760"/>
            <a:ext cx="0" cy="374904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875520" y="5047488"/>
            <a:ext cx="1417320" cy="50292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End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584180" y="4672584"/>
            <a:ext cx="0" cy="374904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74320" y="5852160"/>
            <a:ext cx="365760" cy="2743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시작/종료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5852160"/>
            <a:ext cx="36576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3172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처리 단계</a:t>
            </a:r>
          </a:p>
        </p:txBody>
      </p:sp>
      <p:sp>
        <p:nvSpPr>
          <p:cNvPr id="40" name="Diamond 39"/>
          <p:cNvSpPr/>
          <p:nvPr/>
        </p:nvSpPr>
        <p:spPr>
          <a:xfrm>
            <a:off x="3566160" y="5852160"/>
            <a:ext cx="365760" cy="274320"/>
          </a:xfrm>
          <a:prstGeom prst="diamond">
            <a:avLst/>
          </a:prstGeom>
          <a:solidFill>
            <a:srgbClr val="E67E22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7764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분기</a:t>
            </a:r>
          </a:p>
        </p:txBody>
      </p:sp>
      <p:sp>
        <p:nvSpPr>
          <p:cNvPr id="42" name="Magnetic Disk 41"/>
          <p:cNvSpPr/>
          <p:nvPr/>
        </p:nvSpPr>
        <p:spPr>
          <a:xfrm>
            <a:off x="5212080" y="5852160"/>
            <a:ext cx="365760" cy="274320"/>
          </a:xfrm>
          <a:prstGeom prst="flowChartMagneticDisk">
            <a:avLst/>
          </a:prstGeom>
          <a:solidFill>
            <a:srgbClr val="5D6D7E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2356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데이터 저장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프로세스 흐름도 - 프레임 처리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_analyze_frames_parallel() 내부 루프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46304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VideoProcessor
프레임 추출 (Generator)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097280"/>
            <a:ext cx="146304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ROI 영역 크롭
(cv2 slicing)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1325880"/>
            <a:ext cx="18288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005840"/>
            <a:ext cx="3657600" cy="201168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0515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86C1"/>
                </a:solidFill>
                <a:latin typeface="Malgun Gothic"/>
              </a:rPr>
              <a:t>ParallelProcessor (ThreadPoolExecutor)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37160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OCR 처리
(PaddleOCR PP-OCRv4)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057400"/>
            <a:ext cx="137160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TextCorrector
텍스트 교정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43400" y="1828800"/>
            <a:ext cx="0" cy="22860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0" y="1371600"/>
            <a:ext cx="1371600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ChartDetector
(Canny + Hough)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0" y="1325880"/>
            <a:ext cx="274320" cy="27432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223760" y="2926080"/>
            <a:ext cx="146304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결과 수집
(roi_id → ROIResult)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43400" y="2514600"/>
            <a:ext cx="2880360" cy="50292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55080" y="1828800"/>
            <a:ext cx="1051560" cy="109728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3840480" y="2926080"/>
            <a:ext cx="1645920" cy="914400"/>
          </a:xfrm>
          <a:prstGeom prst="diamond">
            <a:avLst/>
          </a:prstGeom>
          <a:solidFill>
            <a:srgbClr val="E67E22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트리거 ROI
값 변화?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486400" y="3154680"/>
            <a:ext cx="1737360" cy="22860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74320" y="3611880"/>
            <a:ext cx="16459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캡쳐 그룹 생성
(captures 테이블)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920240" y="3383280"/>
            <a:ext cx="1920240" cy="45720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65960" y="3017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7AE60"/>
                </a:solidFill>
                <a:latin typeface="Malgun Gothic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480560"/>
            <a:ext cx="13716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algun Gothic"/>
              </a:rPr>
              <a:t>프레임 이미지 저장
(ROI 시각화 포함)</a:t>
            </a:r>
          </a:p>
        </p:txBody>
      </p:sp>
      <p:sp>
        <p:nvSpPr>
          <p:cNvPr id="24" name="Magnetic Disk 23"/>
          <p:cNvSpPr/>
          <p:nvPr/>
        </p:nvSpPr>
        <p:spPr>
          <a:xfrm>
            <a:off x="2194560" y="4480560"/>
            <a:ext cx="1371600" cy="457200"/>
          </a:xfrm>
          <a:prstGeom prst="flowChartMagneticDisk">
            <a:avLst/>
          </a:prstGeom>
          <a:solidFill>
            <a:srgbClr val="5D6D7E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algun Gothic"/>
              </a:rPr>
              <a:t>DB 기록
(Capture + Events)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4069080"/>
            <a:ext cx="228600" cy="41148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71600" y="4069080"/>
            <a:ext cx="1508760" cy="41148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114800" y="4480560"/>
            <a:ext cx="1371600" cy="457200"/>
          </a:xfrm>
          <a:prstGeom prst="rect">
            <a:avLst/>
          </a:prstGeom>
          <a:solidFill>
            <a:srgbClr val="5D6D7E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prev_values
업데이트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63440" y="3840480"/>
            <a:ext cx="137160" cy="64008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09160" y="37947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74C3C"/>
                </a:solidFill>
                <a:latin typeface="Malgun Gothic"/>
              </a:rPr>
              <a:t>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4480560"/>
            <a:ext cx="1371600" cy="457200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C3E50"/>
                </a:solidFill>
                <a:latin typeface="Malgun Gothic"/>
              </a:rPr>
              <a:t>다음 프레임 / 종료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0" y="4709160"/>
            <a:ext cx="182880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66160" y="4709160"/>
            <a:ext cx="3749040" cy="9144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74320" y="5852160"/>
            <a:ext cx="365760" cy="2743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시작/종료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5852160"/>
            <a:ext cx="36576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3172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처리 단계</a:t>
            </a:r>
          </a:p>
        </p:txBody>
      </p:sp>
      <p:sp>
        <p:nvSpPr>
          <p:cNvPr id="37" name="Diamond 36"/>
          <p:cNvSpPr/>
          <p:nvPr/>
        </p:nvSpPr>
        <p:spPr>
          <a:xfrm>
            <a:off x="3566160" y="5852160"/>
            <a:ext cx="365760" cy="274320"/>
          </a:xfrm>
          <a:prstGeom prst="diamond">
            <a:avLst/>
          </a:prstGeom>
          <a:solidFill>
            <a:srgbClr val="E67E22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7764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분기</a:t>
            </a:r>
          </a:p>
        </p:txBody>
      </p:sp>
      <p:sp>
        <p:nvSpPr>
          <p:cNvPr id="39" name="Magnetic Disk 38"/>
          <p:cNvSpPr/>
          <p:nvPr/>
        </p:nvSpPr>
        <p:spPr>
          <a:xfrm>
            <a:off x="5212080" y="5852160"/>
            <a:ext cx="365760" cy="274320"/>
          </a:xfrm>
          <a:prstGeom prst="flowChartMagneticDisk">
            <a:avLst/>
          </a:prstGeom>
          <a:solidFill>
            <a:srgbClr val="5D6D7E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2356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데이터 저장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프로세스 흐름도 - 배치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BatchScheduler.run() 실행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554480" cy="5029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097280"/>
            <a:ext cx="155448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시그널 핸들러 등록
(SIGINT/SIGTERM)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097280"/>
            <a:ext cx="155448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비정상 종료 복구
(PROCESSING→PENDING)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1348740"/>
            <a:ext cx="27432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1348740"/>
            <a:ext cx="27432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" y="1828800"/>
            <a:ext cx="11430000" cy="41148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874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D6D7E"/>
                </a:solidFill>
                <a:latin typeface="Malgun Gothic"/>
              </a:rPr>
              <a:t>배치 사이클 루프 (무한 반복)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55448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디렉토리 스캔
(rglob *.mp4 등)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234440" y="1600200"/>
            <a:ext cx="3657600" cy="50292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agnetic Disk 13"/>
          <p:cNvSpPr/>
          <p:nvPr/>
        </p:nvSpPr>
        <p:spPr>
          <a:xfrm>
            <a:off x="2286000" y="2103120"/>
            <a:ext cx="1554480" cy="502920"/>
          </a:xfrm>
          <a:prstGeom prst="flowChartMagneticDisk">
            <a:avLst/>
          </a:prstGeom>
          <a:solidFill>
            <a:srgbClr val="5D6D7E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신규 파일 DB 등록
(video_files: PENDING)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11680" y="2354580"/>
            <a:ext cx="27432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gnetic Disk 15"/>
          <p:cNvSpPr/>
          <p:nvPr/>
        </p:nvSpPr>
        <p:spPr>
          <a:xfrm>
            <a:off x="4114800" y="2103120"/>
            <a:ext cx="1554480" cy="502920"/>
          </a:xfrm>
          <a:prstGeom prst="flowChartMagneticDisk">
            <a:avLst/>
          </a:prstGeom>
          <a:solidFill>
            <a:srgbClr val="5D6D7E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PENDING 파일
조회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2354580"/>
            <a:ext cx="27432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943600" y="2103120"/>
            <a:ext cx="2011680" cy="502920"/>
          </a:xfrm>
          <a:prstGeom prst="rect">
            <a:avLst/>
          </a:prstGeom>
          <a:solidFill>
            <a:srgbClr val="1A5C97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PENDING 파일 순차 처리 루프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2354580"/>
            <a:ext cx="27432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286000" y="3017520"/>
            <a:ext cx="155448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상태 변경
PENDING → PROCESSING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063240" y="2606040"/>
            <a:ext cx="3886200" cy="41148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114800" y="3017520"/>
            <a:ext cx="1828800" cy="502920"/>
          </a:xfrm>
          <a:prstGeom prst="rect">
            <a:avLst/>
          </a:prstGeom>
          <a:solidFill>
            <a:srgbClr val="1A5C97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VideoAnalyzerApp 생성 &amp; 실행
(단일 비디오 전체 분석)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0" y="3268980"/>
            <a:ext cx="274320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7955280" y="2834640"/>
            <a:ext cx="1371600" cy="822960"/>
          </a:xfrm>
          <a:prstGeom prst="diamond">
            <a:avLst/>
          </a:prstGeom>
          <a:solidFill>
            <a:srgbClr val="E67E22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성공?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943600" y="3246120"/>
            <a:ext cx="2011680" cy="2286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955280" y="4023360"/>
            <a:ext cx="155448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상태: COMPLETED
session_id 연결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98180" y="3657600"/>
            <a:ext cx="434340" cy="36576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63840" y="36118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7AE60"/>
                </a:solidFill>
                <a:latin typeface="Malgun Gothic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3017520"/>
            <a:ext cx="155448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상태: FAILED
error_message 저장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26880" y="3246120"/>
            <a:ext cx="914400" cy="2286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345168" y="29260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74C3C"/>
                </a:solidFill>
                <a:latin typeface="Malgun Gothic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23360"/>
            <a:ext cx="155448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interval 대기
(1초 단위 sleep)</a:t>
            </a:r>
          </a:p>
        </p:txBody>
      </p:sp>
      <p:sp>
        <p:nvSpPr>
          <p:cNvPr id="33" name="Diamond 32"/>
          <p:cNvSpPr/>
          <p:nvPr/>
        </p:nvSpPr>
        <p:spPr>
          <a:xfrm>
            <a:off x="457200" y="4846320"/>
            <a:ext cx="1554480" cy="731520"/>
          </a:xfrm>
          <a:prstGeom prst="diamond">
            <a:avLst/>
          </a:prstGeom>
          <a:solidFill>
            <a:srgbClr val="E67E22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algun Gothic"/>
              </a:rPr>
              <a:t>종료 신호?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34440" y="4526280"/>
            <a:ext cx="0" cy="32004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57400" y="49834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E86C1"/>
                </a:solidFill>
                <a:latin typeface="Malgun Gothic"/>
              </a:rPr>
              <a:t>No → 루프 반복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4937760"/>
            <a:ext cx="1554480" cy="50292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End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2011680" y="5189220"/>
            <a:ext cx="731520" cy="22860"/>
          </a:xfrm>
          <a:prstGeom prst="line">
            <a:avLst/>
          </a:prstGeom>
          <a:ln w="1905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057400" y="54864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27AE60"/>
                </a:solidFill>
                <a:latin typeface="Malgun Gothic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5852160"/>
            <a:ext cx="365760" cy="2743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8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시작/종료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5852160"/>
            <a:ext cx="36576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2980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처리 단계</a:t>
            </a:r>
          </a:p>
        </p:txBody>
      </p:sp>
      <p:sp>
        <p:nvSpPr>
          <p:cNvPr id="43" name="Diamond 42"/>
          <p:cNvSpPr/>
          <p:nvPr/>
        </p:nvSpPr>
        <p:spPr>
          <a:xfrm>
            <a:off x="11064240" y="5852160"/>
            <a:ext cx="365760" cy="274320"/>
          </a:xfrm>
          <a:prstGeom prst="diamond">
            <a:avLst/>
          </a:prstGeom>
          <a:solidFill>
            <a:srgbClr val="E67E22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47572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분기</a:t>
            </a:r>
          </a:p>
        </p:txBody>
      </p:sp>
      <p:sp>
        <p:nvSpPr>
          <p:cNvPr id="45" name="Magnetic Disk 44"/>
          <p:cNvSpPr/>
          <p:nvPr/>
        </p:nvSpPr>
        <p:spPr>
          <a:xfrm>
            <a:off x="12710160" y="5852160"/>
            <a:ext cx="365760" cy="274320"/>
          </a:xfrm>
          <a:prstGeom prst="flowChartMagneticDisk">
            <a:avLst/>
          </a:prstGeom>
          <a:solidFill>
            <a:srgbClr val="5D6D7E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3121640" y="58978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C3E50"/>
                </a:solidFill>
                <a:latin typeface="Malgun Gothic"/>
              </a:rPr>
              <a:t>데이터 저장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테이블 정의서 -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분석 세션 정보 - 하나의 비디오/이미지 분석 작업 단위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컬럼명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데이터 타입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제약 조건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id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PRIMARY KEY AUTOINCREMENT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자동 증가 기본 키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세션 이름 (예: Analysis_20240119_143025)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source_path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소스 비디오 파일 경로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created_at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CURRENT_TIMESTAMP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세션 생성 시각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updated_at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CURRENT_TIMESTAMP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마지막 수정 시각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is_active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1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활성 상태 (1=활성, 0=아카이브)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metadata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JSON 형식 추가 메타데이터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테이블 정의서 - roi_definitions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ROI(관심 영역) 정의 - 이미지 내 모니터링 영역 좌표 및 속성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컬럼명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데이터 타입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제약 조건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id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PRIMARY KEY AUTOINCREMENT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자동 증가 기본 키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session_id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FK→sessions(id) CASCADE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소속 세션 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UNIQUE(session_id, name)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ROI 이름 (세션 내 고유)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roi_type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타입: numeric/text/chart/indicator/gauge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좌상단 X 좌표 (px)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y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좌상단 Y 좌표 (px)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width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CHECK(&gt;0)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영역 너비 (px)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height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CHECK(&gt;0)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영역 높이 (px)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REAL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0.1, CHECK(0~1)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변화 감지 임계값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created_at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CURRENT_TIMESTAMP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생성 시각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metadata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JSON (is_trigger, confidence 등)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D7E"/>
                </a:solidFill>
                <a:latin typeface="Malgun Gothic"/>
              </a:rPr>
              <a:t>인덱스: idx_roi_session(session_id)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테이블 정의서 - change_events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변화 감지 이벤트 - ROI에서 감지된 값 변화 기록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컬럼명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데이터 타입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제약 조건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id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PRIMARY KEY AUTOINCREMENT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자동 증가 기본 키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roi_id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FK→roi_definitions(id) CASCADE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관련 ROI 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session_id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FK→sessions(id) CASCADE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소속 세션 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capture_id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FK→captures(id) SET NULL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소속 캡쳐 그룹 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CURRENT_TIMESTAMP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변화 감지 시각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previous_value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이전 값 (첫 감지 시 NULL)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current_value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현재 감지된 값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frame_path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프레임 이미지 저장 경로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extracted_text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OCR 원본 텍스트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is_chart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0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차트 여부 (0=텍스트, 1=차트)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confidence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REAL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1.0, CHECK(0~1)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OCR/차트 감지 신뢰도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metadata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JSON (processing_time_ms, frame_number 등)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D7E"/>
                </a:solidFill>
                <a:latin typeface="Malgun Gothic"/>
              </a:rPr>
              <a:t>인덱스: idx_events_session(session_id), idx_events_roi(roi_id), idx_events_timestamp(timestamp), idx_events_capture(capture_id)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테이블 정의서 - captures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캡쳐 그룹 - 트리거 ROI 변경 시점의 전체 프레임 캡쳐 및 이벤트 그룹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컬럼명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데이터 타입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제약 조건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id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PRIMARY KEY AUTOINCREMENT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자동 증가 기본 키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session_id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FK→sessions(id) CASCADE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소속 세션 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trigger_roi_id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FK→roi_definitions(id) CASCADE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트리거 ROI 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frame_path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전체 프레임 이미지 경로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frame_number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비디오 프레임 번호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timestamp_ms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REAL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프레임 타임스탬프 (밀리초)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captured_at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CURRENT_TIMESTAMP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캡쳐 기록 시각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metadata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JSON (trigger_roi_name 등)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D7E"/>
                </a:solidFill>
                <a:latin typeface="Malgun Gothic"/>
              </a:rPr>
              <a:t>인덱스: idx_captures_session(session_id), idx_captures_trigger_roi(trigger_roi_id)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테이블 정의서 - roi_templates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ROI 템플릿 - 여러 세션에서 재사용 가능한 ROI 설정 묶음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컬럼명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데이터 타입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제약 조건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id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PRIMARY KEY AUTOINCREMENT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자동 증가 기본 키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 UNIQUE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템플릿 이름 (고유)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description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템플릿 설명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created_at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CURRENT_TIMESTAMP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생성 시각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updated_at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CURRENT_TIMESTAMP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마지막 수정 시각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테이블 정의서 - template_rois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템플릿 내 ROI 정의 - 템플릿에 속한 개별 ROI 좌표 및 속성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컬럼명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데이터 타입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제약 조건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id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PRIMARY KEY AUTOINCREMENT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자동 증가 기본 키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template_id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FK→roi_templates(id) CASCADE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소속 템플릿 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UNIQUE(template_id, name)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ROI 이름 (템플릿 내 고유)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roi_type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타입: numeric/text/chart/indicator/gauge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좌상단 X 좌표 (px)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y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좌상단 Y 좌표 (px)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width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CHECK(&gt;0)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영역 너비 (px)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height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CHECK(&gt;0)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영역 높이 (px)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REAL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0.1, CHECK(0~1)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변화 감지 임계값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created_at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CURRENT_TIMESTAMP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생성 시각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metadata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JSON (is_trigger 등)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D7E"/>
                </a:solidFill>
                <a:latin typeface="Malgun Gothic"/>
              </a:rPr>
              <a:t>인덱스: idx_template_rois_template(template_id)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테이블 정의서 - video_files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비디오 파일 관리 - 배치 처리 대상 비디오 파일 목록 및 상태 추적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컬럼명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데이터 타입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제약 조건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marL="45720" marR="45720" marT="18288" marB="18288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id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PRIMARY KEY AUTOINCREMENT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자동 증가 기본 키</a:t>
                      </a:r>
                    </a:p>
                  </a:txBody>
                  <a:tcPr marL="45720" marR="45720" marT="18288" marB="18288">
                    <a:solidFill>
                      <a:srgbClr val="FDE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file_path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 UNIQUE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비디오 파일 전체 경로 (고유)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file_name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파일명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file_size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파일 크기 (bytes)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discovered_at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DEFAULT CURRENT_TIMESTAMP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파일 발견 시각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NOT NULL, DEFAULT 'pending'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상태: pending/processing/completed/failed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session_id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INTEGER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FK→sessions(id) SET NULL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연결된 분석 세션 ID</a:t>
                      </a:r>
                    </a:p>
                  </a:txBody>
                  <a:tcPr marL="45720" marR="45720" marT="18288" marB="18288">
                    <a:solidFill>
                      <a:srgbClr val="E8D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started_at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분석 시작 시각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completed_at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TIMESTAMP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분석 완료 시각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error_message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실패 시 오류 메시지</a:t>
                      </a:r>
                    </a:p>
                  </a:txBody>
                  <a:tcPr marL="45720" marR="45720" marT="18288" marB="18288"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C3E50"/>
                          </a:solidFill>
                          <a:latin typeface="Malgun Gothic"/>
                        </a:rPr>
                        <a:t>metadata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  <a:latin typeface="Malgun Gothic"/>
                        </a:rPr>
                        <a:t>JSON 추가 메타데이터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D7E"/>
                </a:solidFill>
                <a:latin typeface="Malgun Gothic"/>
              </a:rPr>
              <a:t>인덱스: idx_video_files_status(status), idx_video_files_discovered(discovered_at)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ERD - Entity 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E6F1"/>
                </a:solidFill>
                <a:latin typeface="Malgun Gothic"/>
              </a:rPr>
              <a:t>7개 테이블 간 관계도 (SQLite)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3774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2377440" cy="201168"/>
          </a:xfrm>
          <a:prstGeom prst="rect">
            <a:avLst/>
          </a:prstGeom>
          <a:solidFill>
            <a:srgbClr val="FDEECE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E67E22"/>
                </a:solidFill>
                <a:latin typeface="Malgun Gothic"/>
              </a:rPr>
              <a:t>PK  </a:t>
            </a:r>
            <a:r>
              <a:rPr sz="700" b="0">
                <a:solidFill>
                  <a:srgbClr val="2C3E50"/>
                </a:solidFill>
                <a:latin typeface="Arial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47088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48256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source_path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9424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created_at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50592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updated_at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is_active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52928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188720"/>
            <a:ext cx="23774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roi_definitions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1463040"/>
            <a:ext cx="2377440" cy="201168"/>
          </a:xfrm>
          <a:prstGeom prst="rect">
            <a:avLst/>
          </a:prstGeom>
          <a:solidFill>
            <a:srgbClr val="FDEECE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E67E22"/>
                </a:solidFill>
                <a:latin typeface="Malgun Gothic"/>
              </a:rPr>
              <a:t>PK  </a:t>
            </a:r>
            <a:r>
              <a:rPr sz="700" b="0">
                <a:solidFill>
                  <a:srgbClr val="2C3E50"/>
                </a:solidFill>
                <a:latin typeface="Arial"/>
              </a:rPr>
              <a:t>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664208"/>
            <a:ext cx="2377440" cy="201168"/>
          </a:xfrm>
          <a:prstGeom prst="rect">
            <a:avLst/>
          </a:prstGeom>
          <a:solidFill>
            <a:srgbClr val="E8DAE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8E44AD"/>
                </a:solidFill>
                <a:latin typeface="Malgun Gothic"/>
              </a:rPr>
              <a:t>FK  </a:t>
            </a:r>
            <a:r>
              <a:rPr sz="700" b="0">
                <a:solidFill>
                  <a:srgbClr val="2C3E50"/>
                </a:solidFill>
                <a:latin typeface="Arial"/>
              </a:rPr>
              <a:t>session_id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1865376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066544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roi_type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267712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x, y, width, height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468880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threshold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670048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metadata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1188720"/>
            <a:ext cx="23774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change_events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463040"/>
            <a:ext cx="2377440" cy="201168"/>
          </a:xfrm>
          <a:prstGeom prst="rect">
            <a:avLst/>
          </a:prstGeom>
          <a:solidFill>
            <a:srgbClr val="FDEECE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E67E22"/>
                </a:solidFill>
                <a:latin typeface="Malgun Gothic"/>
              </a:rPr>
              <a:t>PK  </a:t>
            </a:r>
            <a:r>
              <a:rPr sz="700" b="0">
                <a:solidFill>
                  <a:srgbClr val="2C3E50"/>
                </a:solidFill>
                <a:latin typeface="Arial"/>
              </a:rPr>
              <a:t>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664208"/>
            <a:ext cx="2377440" cy="201168"/>
          </a:xfrm>
          <a:prstGeom prst="rect">
            <a:avLst/>
          </a:prstGeom>
          <a:solidFill>
            <a:srgbClr val="E8DAE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8E44AD"/>
                </a:solidFill>
                <a:latin typeface="Malgun Gothic"/>
              </a:rPr>
              <a:t>FK  </a:t>
            </a:r>
            <a:r>
              <a:rPr sz="700" b="0">
                <a:solidFill>
                  <a:srgbClr val="2C3E50"/>
                </a:solidFill>
                <a:latin typeface="Arial"/>
              </a:rPr>
              <a:t>roi_id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1865376"/>
            <a:ext cx="2377440" cy="201168"/>
          </a:xfrm>
          <a:prstGeom prst="rect">
            <a:avLst/>
          </a:prstGeom>
          <a:solidFill>
            <a:srgbClr val="E8DAE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8E44AD"/>
                </a:solidFill>
                <a:latin typeface="Malgun Gothic"/>
              </a:rPr>
              <a:t>FK  </a:t>
            </a:r>
            <a:r>
              <a:rPr sz="700" b="0">
                <a:solidFill>
                  <a:srgbClr val="2C3E50"/>
                </a:solidFill>
                <a:latin typeface="Arial"/>
              </a:rPr>
              <a:t>session_id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066544"/>
            <a:ext cx="2377440" cy="201168"/>
          </a:xfrm>
          <a:prstGeom prst="rect">
            <a:avLst/>
          </a:prstGeom>
          <a:solidFill>
            <a:srgbClr val="E8DAE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8E44AD"/>
                </a:solidFill>
                <a:latin typeface="Malgun Gothic"/>
              </a:rPr>
              <a:t>FK  </a:t>
            </a:r>
            <a:r>
              <a:rPr sz="700" b="0">
                <a:solidFill>
                  <a:srgbClr val="2C3E50"/>
                </a:solidFill>
                <a:latin typeface="Arial"/>
              </a:rPr>
              <a:t>capture_id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267712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previous_value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468880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current_value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670048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confidence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2871216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metadata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188720"/>
            <a:ext cx="23774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captures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463040"/>
            <a:ext cx="2377440" cy="201168"/>
          </a:xfrm>
          <a:prstGeom prst="rect">
            <a:avLst/>
          </a:prstGeom>
          <a:solidFill>
            <a:srgbClr val="FDEECE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E67E22"/>
                </a:solidFill>
                <a:latin typeface="Malgun Gothic"/>
              </a:rPr>
              <a:t>PK  </a:t>
            </a:r>
            <a:r>
              <a:rPr sz="700" b="0">
                <a:solidFill>
                  <a:srgbClr val="2C3E50"/>
                </a:solidFill>
                <a:latin typeface="Arial"/>
              </a:rPr>
              <a:t>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664208"/>
            <a:ext cx="2377440" cy="201168"/>
          </a:xfrm>
          <a:prstGeom prst="rect">
            <a:avLst/>
          </a:prstGeom>
          <a:solidFill>
            <a:srgbClr val="E8DAE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8E44AD"/>
                </a:solidFill>
                <a:latin typeface="Malgun Gothic"/>
              </a:rPr>
              <a:t>FK  </a:t>
            </a:r>
            <a:r>
              <a:rPr sz="700" b="0">
                <a:solidFill>
                  <a:srgbClr val="2C3E50"/>
                </a:solidFill>
                <a:latin typeface="Arial"/>
              </a:rPr>
              <a:t>session_id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865376"/>
            <a:ext cx="2377440" cy="201168"/>
          </a:xfrm>
          <a:prstGeom prst="rect">
            <a:avLst/>
          </a:prstGeom>
          <a:solidFill>
            <a:srgbClr val="E8DAE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8E44AD"/>
                </a:solidFill>
                <a:latin typeface="Malgun Gothic"/>
              </a:rPr>
              <a:t>FK  </a:t>
            </a:r>
            <a:r>
              <a:rPr sz="700" b="0">
                <a:solidFill>
                  <a:srgbClr val="2C3E50"/>
                </a:solidFill>
                <a:latin typeface="Arial"/>
              </a:rPr>
              <a:t>trigger_roi_id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066544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frame_path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267712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frame_number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468880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timestamp_ms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670048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metadata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572000"/>
            <a:ext cx="23774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roi_templates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846320"/>
            <a:ext cx="2377440" cy="201168"/>
          </a:xfrm>
          <a:prstGeom prst="rect">
            <a:avLst/>
          </a:prstGeom>
          <a:solidFill>
            <a:srgbClr val="FDEECE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E67E22"/>
                </a:solidFill>
                <a:latin typeface="Malgun Gothic"/>
              </a:rPr>
              <a:t>PK  </a:t>
            </a:r>
            <a:r>
              <a:rPr sz="700" b="0">
                <a:solidFill>
                  <a:srgbClr val="2C3E50"/>
                </a:solidFill>
                <a:latin typeface="Arial"/>
              </a:rPr>
              <a:t>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047488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name (UNIQUE)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48656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description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449824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created_at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650992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updated_at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4572000"/>
            <a:ext cx="23774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template_rois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4846320"/>
            <a:ext cx="2377440" cy="201168"/>
          </a:xfrm>
          <a:prstGeom prst="rect">
            <a:avLst/>
          </a:prstGeom>
          <a:solidFill>
            <a:srgbClr val="FDEECE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E67E22"/>
                </a:solidFill>
                <a:latin typeface="Malgun Gothic"/>
              </a:rPr>
              <a:t>PK  </a:t>
            </a:r>
            <a:r>
              <a:rPr sz="700" b="0">
                <a:solidFill>
                  <a:srgbClr val="2C3E50"/>
                </a:solidFill>
                <a:latin typeface="Arial"/>
              </a:rPr>
              <a:t>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5047488"/>
            <a:ext cx="2377440" cy="201168"/>
          </a:xfrm>
          <a:prstGeom prst="rect">
            <a:avLst/>
          </a:prstGeom>
          <a:solidFill>
            <a:srgbClr val="E8DAE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8E44AD"/>
                </a:solidFill>
                <a:latin typeface="Malgun Gothic"/>
              </a:rPr>
              <a:t>FK  </a:t>
            </a:r>
            <a:r>
              <a:rPr sz="700" b="0">
                <a:solidFill>
                  <a:srgbClr val="2C3E50"/>
                </a:solidFill>
                <a:latin typeface="Arial"/>
              </a:rPr>
              <a:t>template_id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5248656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name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5449824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roi_type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5650992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x, y, width, height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5852160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threshold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6053328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metadata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4572000"/>
            <a:ext cx="23774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video_files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4846320"/>
            <a:ext cx="2377440" cy="201168"/>
          </a:xfrm>
          <a:prstGeom prst="rect">
            <a:avLst/>
          </a:prstGeom>
          <a:solidFill>
            <a:srgbClr val="FDEECE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E67E22"/>
                </a:solidFill>
                <a:latin typeface="Malgun Gothic"/>
              </a:rPr>
              <a:t>PK  </a:t>
            </a:r>
            <a:r>
              <a:rPr sz="700" b="0">
                <a:solidFill>
                  <a:srgbClr val="2C3E50"/>
                </a:solidFill>
                <a:latin typeface="Arial"/>
              </a:rPr>
              <a:t>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5047488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file_path (UNIQUE)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7840" y="5248656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file_name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5449824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status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5650992"/>
            <a:ext cx="2377440" cy="201168"/>
          </a:xfrm>
          <a:prstGeom prst="rect">
            <a:avLst/>
          </a:prstGeom>
          <a:solidFill>
            <a:srgbClr val="E8DAE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1">
                <a:solidFill>
                  <a:srgbClr val="8E44AD"/>
                </a:solidFill>
                <a:latin typeface="Malgun Gothic"/>
              </a:rPr>
              <a:t>FK  </a:t>
            </a:r>
            <a:r>
              <a:rPr sz="700" b="0">
                <a:solidFill>
                  <a:srgbClr val="2C3E50"/>
                </a:solidFill>
                <a:latin typeface="Arial"/>
              </a:rPr>
              <a:t>session_id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5852160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error_message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6053328"/>
            <a:ext cx="237744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bIns="9144" rtlCol="0" anchor="ctr"/>
          <a:lstStyle/>
          <a:p>
            <a:pPr algn="l"/>
            <a:r>
              <a:rPr sz="700" b="0">
                <a:solidFill>
                  <a:srgbClr val="2C3E50"/>
                </a:solidFill>
                <a:latin typeface="Arial"/>
              </a:rPr>
              <a:t>metadata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2651760" y="2029968"/>
            <a:ext cx="274320" cy="182880"/>
          </a:xfrm>
          <a:prstGeom prst="line">
            <a:avLst/>
          </a:prstGeom>
          <a:ln w="1270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670048" y="204825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B2A4A"/>
                </a:solidFill>
                <a:latin typeface="Malgun Gothic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97480" y="186537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Malgun Gothic"/>
              </a:rPr>
              <a:t>N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651760" y="2029968"/>
            <a:ext cx="5577840" cy="182880"/>
          </a:xfrm>
          <a:prstGeom prst="line">
            <a:avLst/>
          </a:prstGeom>
          <a:ln w="1270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670048" y="204825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B2A4A"/>
                </a:solidFill>
                <a:latin typeface="Malgun Gothic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01000" y="186537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Malgun Gothic"/>
              </a:rPr>
              <a:t>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463040" y="3054096"/>
            <a:ext cx="5303520" cy="1517904"/>
          </a:xfrm>
          <a:prstGeom prst="line">
            <a:avLst/>
          </a:prstGeom>
          <a:ln w="1270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508760" y="3072384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B2A4A"/>
                </a:solidFill>
                <a:latin typeface="Malgun Gothic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12280" y="4389120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Malgun Gothic"/>
              </a:rPr>
              <a:t>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303520" y="2029968"/>
            <a:ext cx="274320" cy="100584"/>
          </a:xfrm>
          <a:prstGeom prst="line">
            <a:avLst/>
          </a:prstGeom>
          <a:ln w="1270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321808" y="186537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B2A4A"/>
                </a:solidFill>
                <a:latin typeface="Malgun Gothic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49240" y="1965960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Malgun Gothic"/>
              </a:rPr>
              <a:t>N</a:t>
            </a:r>
          </a:p>
        </p:txBody>
      </p:sp>
      <p:cxnSp>
        <p:nvCxnSpPr>
          <p:cNvPr id="72" name="Connector 71"/>
          <p:cNvCxnSpPr/>
          <p:nvPr/>
        </p:nvCxnSpPr>
        <p:spPr>
          <a:xfrm flipH="1">
            <a:off x="7955280" y="2029968"/>
            <a:ext cx="274320" cy="100584"/>
          </a:xfrm>
          <a:prstGeom prst="line">
            <a:avLst/>
          </a:prstGeom>
          <a:ln w="1270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001000" y="186537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B2A4A"/>
                </a:solidFill>
                <a:latin typeface="Malgun Gothic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73568" y="1965960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Malgun Gothic"/>
              </a:rPr>
              <a:t>N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303520" y="2029968"/>
            <a:ext cx="2926080" cy="0"/>
          </a:xfrm>
          <a:prstGeom prst="line">
            <a:avLst/>
          </a:prstGeom>
          <a:ln w="1270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321808" y="186537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B2A4A"/>
                </a:solidFill>
                <a:latin typeface="Malgun Gothic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01000" y="186537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Malgun Gothic"/>
              </a:rPr>
              <a:t>N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651760" y="5212080"/>
            <a:ext cx="274320" cy="201168"/>
          </a:xfrm>
          <a:prstGeom prst="line">
            <a:avLst/>
          </a:prstGeom>
          <a:ln w="1270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670048" y="5047488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B2A4A"/>
                </a:solidFill>
                <a:latin typeface="Malgun Gothic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97480" y="524865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74C3C"/>
                </a:solidFill>
                <a:latin typeface="Malgun Gothic"/>
              </a:rPr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1576</Words>
  <Application>Microsoft Office PowerPoint</Application>
  <PresentationFormat>와이드스크린</PresentationFormat>
  <Paragraphs>434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교준 구</cp:lastModifiedBy>
  <cp:revision>2</cp:revision>
  <dcterms:created xsi:type="dcterms:W3CDTF">2013-01-27T09:14:16Z</dcterms:created>
  <dcterms:modified xsi:type="dcterms:W3CDTF">2026-02-24T05:10:22Z</dcterms:modified>
  <cp:category/>
</cp:coreProperties>
</file>